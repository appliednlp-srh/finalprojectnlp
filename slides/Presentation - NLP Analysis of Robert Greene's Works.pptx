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Interphases" charset="1" panose="02000503020000020004"/>
      <p:regular r:id="rId19"/>
    </p:embeddedFont>
    <p:embeddedFont>
      <p:font typeface="Cooper BT Light" charset="1" panose="0208050304030B020404"/>
      <p:regular r:id="rId20"/>
    </p:embeddedFont>
    <p:embeddedFont>
      <p:font typeface="Cooper BT Medium" charset="1" panose="0208060305030B020404"/>
      <p:regular r:id="rId21"/>
    </p:embeddedFont>
    <p:embeddedFont>
      <p:font typeface="TT Interphases Bold" charset="1" panose="020008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54" y="666750"/>
            <a:ext cx="18532359" cy="4177335"/>
            <a:chOff x="0" y="0"/>
            <a:chExt cx="24709812" cy="556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032421"/>
              <a:ext cx="24709812" cy="537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6"/>
                </a:lnSpc>
              </a:pPr>
              <a:r>
                <a:rPr lang="en-US" sz="2543" spc="-50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Comparing The 48 Laws of Power and The Laws of Human Nature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125"/>
              <a:ext cx="24709812" cy="4293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188"/>
                </a:lnSpc>
              </a:pPr>
              <a:r>
                <a:rPr lang="en-US" sz="12188" spc="-243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NLP Analysis of Robert Greene's 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3352" y="5110932"/>
            <a:ext cx="11273340" cy="1780056"/>
            <a:chOff x="0" y="0"/>
            <a:chExt cx="15031120" cy="237340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12895"/>
              <a:ext cx="15031120" cy="146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250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Yousef Askar : 100001697</a:t>
              </a:r>
            </a:p>
            <a:p>
              <a:pPr algn="l" marL="0" indent="0" lvl="0">
                <a:lnSpc>
                  <a:spcPts val="4550"/>
                </a:lnSpc>
              </a:pPr>
              <a:r>
                <a:rPr lang="en-US" sz="3250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Abdelmalek abdou :100003159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5031120" cy="79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2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709715"/>
            <a:ext cx="10382328" cy="257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2"/>
              </a:lnSpc>
              <a:spcBef>
                <a:spcPct val="0"/>
              </a:spcBef>
            </a:pPr>
            <a:r>
              <a:rPr lang="en-US" sz="3978" spc="-7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reene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(born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ay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14,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1959)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rican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auth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ow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or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ng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about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ow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dyna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mic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s,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strat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gy, sedu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ction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ma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tery,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human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havio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r.</a:t>
            </a:r>
            <a:r>
              <a:rPr lang="en-US" sz="3978" spc="-79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686184" cy="10287000"/>
          </a:xfrm>
          <a:custGeom>
            <a:avLst/>
            <a:gdLst/>
            <a:ahLst/>
            <a:cxnLst/>
            <a:rect r="r" b="b" t="t" l="l"/>
            <a:pathLst>
              <a:path h="10287000" w="9686184">
                <a:moveTo>
                  <a:pt x="0" y="0"/>
                </a:moveTo>
                <a:lnTo>
                  <a:pt x="9686184" y="0"/>
                </a:lnTo>
                <a:lnTo>
                  <a:pt x="96861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48" r="-26511" b="-1267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99657" y="66675"/>
            <a:ext cx="8188343" cy="1022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Readers assume both books follow the same strategic mindset and rhet</a:t>
            </a: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orical style because they are written by the same author.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The Reality: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Our data shows the books differ significantly: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48 Laws of Power uses short, punchy, tactical sentences,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while The Laws of Human Nature uses longer, reflective, psychology-driven paragraphs.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The Twist: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These stylistic differences reveal Greene’s shift in purpose: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3919" spc="-7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Power teaches external strategy and manipulation,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while Human Nature explores internal emotions, motives, and self-awareness.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405488" cy="6907944"/>
            <a:chOff x="0" y="0"/>
            <a:chExt cx="19207317" cy="92105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926829"/>
              <a:ext cx="16377751" cy="2283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6"/>
                </a:lnSpc>
              </a:pPr>
              <a:r>
                <a:rPr lang="en-US" sz="3496" spc="-69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Doe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Rob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Gr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’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wri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ing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yl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ang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w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ift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fr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gy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ych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gy—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and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ha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veal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abou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is ev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tion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3496" spc="-69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uthor?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6225"/>
              <a:ext cx="19207317" cy="512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570"/>
                </a:lnSpc>
                <a:spcBef>
                  <a:spcPct val="0"/>
                </a:spcBef>
              </a:pPr>
              <a:r>
                <a:rPr lang="en-US" sz="14570" spc="-291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Research Question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5348094" cy="4803377"/>
          </a:xfrm>
          <a:custGeom>
            <a:avLst/>
            <a:gdLst/>
            <a:ahLst/>
            <a:cxnLst/>
            <a:rect r="r" b="b" t="t" l="l"/>
            <a:pathLst>
              <a:path h="4803377" w="15348094">
                <a:moveTo>
                  <a:pt x="0" y="0"/>
                </a:moveTo>
                <a:lnTo>
                  <a:pt x="15348094" y="0"/>
                </a:lnTo>
                <a:lnTo>
                  <a:pt x="15348094" y="4803377"/>
                </a:lnTo>
                <a:lnTo>
                  <a:pt x="0" y="4803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2" t="0" r="-68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8120" y="85725"/>
            <a:ext cx="18170430" cy="66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100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Sentenc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 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Lengt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Analysis: Pow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 vs Hu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an Natur</a:t>
            </a:r>
            <a:r>
              <a:rPr lang="en-US" sz="5000" spc="-10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405769"/>
            <a:ext cx="17895877" cy="373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</a:pPr>
          </a:p>
          <a:p>
            <a:pPr algn="ctr">
              <a:lnSpc>
                <a:spcPts val="3727"/>
              </a:lnSpc>
            </a:pPr>
            <a:r>
              <a:rPr lang="en-US" sz="286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Robert Greene uses noticeably different writing rhythms in each book.</a:t>
            </a:r>
          </a:p>
          <a:p>
            <a:pPr algn="ctr">
              <a:lnSpc>
                <a:spcPts val="3727"/>
              </a:lnSpc>
              <a:spcBef>
                <a:spcPct val="0"/>
              </a:spcBef>
            </a:pPr>
          </a:p>
          <a:p>
            <a:pPr algn="ctr" marL="619068" indent="-309534" lvl="1">
              <a:lnSpc>
                <a:spcPts val="3727"/>
              </a:lnSpc>
              <a:spcBef>
                <a:spcPct val="0"/>
              </a:spcBef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The 48 Laws of Power uses shorter, sharper sentences → creates a tactical, punchy tone.</a:t>
            </a:r>
          </a:p>
          <a:p>
            <a:pPr algn="ctr" marL="619068" indent="-309534" lvl="1">
              <a:lnSpc>
                <a:spcPts val="3727"/>
              </a:lnSpc>
              <a:spcBef>
                <a:spcPct val="0"/>
              </a:spcBef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The Laws of Human Nature uses slightly longer and smoother sentences → creates a reflective and explanatory tone.</a:t>
            </a:r>
          </a:p>
          <a:p>
            <a:pPr algn="ctr" marL="619068" indent="-309534" lvl="1">
              <a:lnSpc>
                <a:spcPts val="3727"/>
              </a:lnSpc>
              <a:spcBef>
                <a:spcPct val="0"/>
              </a:spcBef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The difference shows how Greene shifts from strategy to psychology.</a:t>
            </a:r>
          </a:p>
          <a:p>
            <a:pPr algn="ctr">
              <a:lnSpc>
                <a:spcPts val="37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3631" y="1121602"/>
            <a:ext cx="11530999" cy="5722258"/>
          </a:xfrm>
          <a:custGeom>
            <a:avLst/>
            <a:gdLst/>
            <a:ahLst/>
            <a:cxnLst/>
            <a:rect r="r" b="b" t="t" l="l"/>
            <a:pathLst>
              <a:path h="5722258" w="11530999">
                <a:moveTo>
                  <a:pt x="0" y="0"/>
                </a:moveTo>
                <a:lnTo>
                  <a:pt x="11530998" y="0"/>
                </a:lnTo>
                <a:lnTo>
                  <a:pt x="11530998" y="5722258"/>
                </a:lnTo>
                <a:lnTo>
                  <a:pt x="0" y="5722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219" y="104775"/>
            <a:ext cx="17956781" cy="73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6"/>
              </a:lnSpc>
              <a:spcBef>
                <a:spcPct val="0"/>
              </a:spcBef>
            </a:pPr>
            <a:r>
              <a:rPr lang="en-US" sz="5526" spc="-110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sen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ence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ngth Com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pari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on</a:t>
            </a:r>
            <a:r>
              <a:rPr lang="en-US" sz="5526" spc="-110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Power vs Human Nature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7150374"/>
            <a:ext cx="18288000" cy="332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</a:p>
          <a:p>
            <a:pPr algn="ctr" marL="582831" indent="-291416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Both books peak between 10–20 t</a:t>
            </a:r>
            <a:r>
              <a:rPr lang="en-US" sz="2699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okens, but they peak at different intensities.</a:t>
            </a:r>
          </a:p>
          <a:p>
            <a:pPr algn="ctr" marL="582831" indent="-291416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Human Nature has a smoother and more consistent curve, meaning the writing flows more evenly.</a:t>
            </a:r>
          </a:p>
          <a:p>
            <a:pPr algn="ctr" marL="582831" indent="-291416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Power has more variation and more very short sentences, matching its direct, tactical tone.</a:t>
            </a:r>
          </a:p>
          <a:p>
            <a:pPr algn="ctr" marL="582831" indent="-291416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overlap shows they share Greene’s voice, but the shape of the distributions reveals different rhetorical intentions.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484" y="1460044"/>
            <a:ext cx="11054944" cy="7366911"/>
          </a:xfrm>
          <a:custGeom>
            <a:avLst/>
            <a:gdLst/>
            <a:ahLst/>
            <a:cxnLst/>
            <a:rect r="r" b="b" t="t" l="l"/>
            <a:pathLst>
              <a:path h="7366911" w="11054944">
                <a:moveTo>
                  <a:pt x="0" y="0"/>
                </a:moveTo>
                <a:lnTo>
                  <a:pt x="11054944" y="0"/>
                </a:lnTo>
                <a:lnTo>
                  <a:pt x="11054944" y="7366912"/>
                </a:lnTo>
                <a:lnTo>
                  <a:pt x="0" y="7366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04775"/>
            <a:ext cx="17980052" cy="72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7"/>
              </a:lnSpc>
              <a:spcBef>
                <a:spcPct val="0"/>
              </a:spcBef>
            </a:pP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op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Dri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cross P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ragraph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(M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niLM Embedding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5487" spc="-10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04460" y="1138384"/>
            <a:ext cx="7583540" cy="91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48 Laws of Power (Top Graph):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c</a:t>
            </a: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osine similarity jumps up and down aggressively.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Indicates Greene shifts topics frequently → sharp transitions.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Matches the book’s purpose: fast, tactical, punchy lessons.</a:t>
            </a:r>
          </a:p>
          <a:p>
            <a:pPr algn="ctr">
              <a:lnSpc>
                <a:spcPts val="4226"/>
              </a:lnSpc>
              <a:spcBef>
                <a:spcPct val="0"/>
              </a:spcBef>
            </a:pPr>
          </a:p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Laws of Human Nature (Bottom Graph):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Similarity is more stable and less chaotic.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Shows smoother transitions between ideas.</a:t>
            </a:r>
          </a:p>
          <a:p>
            <a:pPr algn="ctr" marL="651727" indent="-325864" lvl="1">
              <a:lnSpc>
                <a:spcPts val="4226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Matches the psychological, explanatory style of the book.</a:t>
            </a:r>
          </a:p>
          <a:p>
            <a:pPr algn="ctr">
              <a:lnSpc>
                <a:spcPts val="141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49998" y="664225"/>
            <a:ext cx="11714605" cy="6481761"/>
          </a:xfrm>
          <a:custGeom>
            <a:avLst/>
            <a:gdLst/>
            <a:ahLst/>
            <a:cxnLst/>
            <a:rect r="r" b="b" t="t" l="l"/>
            <a:pathLst>
              <a:path h="6481761" w="11714605">
                <a:moveTo>
                  <a:pt x="0" y="0"/>
                </a:moveTo>
                <a:lnTo>
                  <a:pt x="11714604" y="0"/>
                </a:lnTo>
                <a:lnTo>
                  <a:pt x="11714604" y="6481761"/>
                </a:lnTo>
                <a:lnTo>
                  <a:pt x="0" y="648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6200"/>
            <a:ext cx="18288000" cy="58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  <a:spcBef>
                <a:spcPct val="0"/>
              </a:spcBef>
            </a:pPr>
            <a:r>
              <a:rPr lang="en-US" sz="4400" spc="-8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Distribution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of Topic Co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tinuit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y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(H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gher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= Sm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ot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er Tr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nsi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4400" spc="-88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ions)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176421"/>
            <a:ext cx="7342745" cy="411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48 Laws </a:t>
            </a: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of Power (blue):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Peaks around 0.3–0.4 cosine similarity.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Indicates frequent shifts and less continuity.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Matches its tactical, fast-paced structure.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Laws of Human Nature (orange):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Peaks around 0.5–0.6 similarity.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Shows higher coherence and smoother transitions.</a:t>
            </a:r>
          </a:p>
          <a:p>
            <a:pPr algn="ctr" marL="485511" indent="-242756" lvl="1">
              <a:lnSpc>
                <a:spcPts val="3148"/>
              </a:lnSpc>
              <a:spcBef>
                <a:spcPct val="0"/>
              </a:spcBef>
              <a:buFont typeface="Arial"/>
              <a:buChar char="•"/>
            </a:pPr>
            <a:r>
              <a:rPr lang="en-US" sz="2248">
                <a:solidFill>
                  <a:srgbClr val="F8F7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Reflects its purpose: deep psychological explanation.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20969" y="664216"/>
            <a:ext cx="14429104" cy="5104296"/>
          </a:xfrm>
          <a:custGeom>
            <a:avLst/>
            <a:gdLst/>
            <a:ahLst/>
            <a:cxnLst/>
            <a:rect r="r" b="b" t="t" l="l"/>
            <a:pathLst>
              <a:path h="5104296" w="14429104">
                <a:moveTo>
                  <a:pt x="0" y="0"/>
                </a:moveTo>
                <a:lnTo>
                  <a:pt x="14429105" y="0"/>
                </a:lnTo>
                <a:lnTo>
                  <a:pt x="14429105" y="5104295"/>
                </a:lnTo>
                <a:lnTo>
                  <a:pt x="0" y="5104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6471" y="76200"/>
            <a:ext cx="14055058" cy="58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0"/>
              </a:lnSpc>
              <a:spcBef>
                <a:spcPct val="0"/>
              </a:spcBef>
            </a:pPr>
            <a:r>
              <a:rPr lang="en-US" sz="4400" spc="-88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Disc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 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Mark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er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D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sity: Pow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 v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 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Hum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an 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</a:t>
            </a:r>
            <a:r>
              <a:rPr lang="en-US" sz="4400" spc="-88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926" y="5915340"/>
            <a:ext cx="9138315" cy="444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48 Laws of Power (left plot):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Most paragraphs have very low disc</a:t>
            </a: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ourse marker density.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Greene uses fewer connectors → writing feels direct, commanding, and abrupt.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Matches the book’s strategic, instructional style.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2910"/>
              </a:lnSpc>
              <a:spcBef>
                <a:spcPct val="0"/>
              </a:spcBef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Laws of Human Nature (right plot):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Higher density of markers such as because, however, therefore.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Indicates a more explanatory and analytical writing style.</a:t>
            </a:r>
          </a:p>
          <a:p>
            <a:pPr algn="ctr" marL="523737" indent="-26186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425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Greene uses reasoning to build psychological arguments.</a:t>
            </a:r>
          </a:p>
          <a:p>
            <a:pPr algn="ctr">
              <a:lnSpc>
                <a:spcPts val="29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685" y="709945"/>
            <a:ext cx="10412315" cy="5726773"/>
          </a:xfrm>
          <a:custGeom>
            <a:avLst/>
            <a:gdLst/>
            <a:ahLst/>
            <a:cxnLst/>
            <a:rect r="r" b="b" t="t" l="l"/>
            <a:pathLst>
              <a:path h="5726773" w="10412315">
                <a:moveTo>
                  <a:pt x="0" y="0"/>
                </a:moveTo>
                <a:lnTo>
                  <a:pt x="10412315" y="0"/>
                </a:lnTo>
                <a:lnTo>
                  <a:pt x="10412315" y="5726774"/>
                </a:lnTo>
                <a:lnTo>
                  <a:pt x="0" y="572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635" y="85725"/>
            <a:ext cx="18288000" cy="62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  <a:spcBef>
                <a:spcPct val="0"/>
              </a:spcBef>
            </a:pPr>
            <a:r>
              <a:rPr lang="en-US" sz="4700" spc="-94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Distribution</a:t>
            </a:r>
            <a:r>
              <a:rPr lang="en-US" sz="4700" spc="-94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of Discourse Marker Density: Power vs Human Nature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484344"/>
            <a:ext cx="10388747" cy="36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  <a:spcBef>
                <a:spcPct val="0"/>
              </a:spcBef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48 Laws </a:t>
            </a: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of Power (blue):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Density peaks around 0.01–0.015 markers per word.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distribution is wider, meaning some paragraphs are extremely direct with zero markers, while others use more.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Reflects the book’s command-like, abrupt, rule-based style.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2670"/>
              </a:lnSpc>
              <a:spcBef>
                <a:spcPct val="0"/>
              </a:spcBef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Laws of Human Nature (orange):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Peaks lower (closer to 0.005–0.01), but stays more consistent.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Suggests a steady use of explanation markers.</a:t>
            </a:r>
          </a:p>
          <a:p>
            <a:pPr algn="ctr" marL="576497" indent="-288248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670" spc="-5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Reinforces the book’s analytical and reflective tone.</a:t>
            </a:r>
          </a:p>
          <a:p>
            <a:pPr algn="ctr">
              <a:lnSpc>
                <a:spcPts val="26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692677" cy="1788233"/>
            <a:chOff x="0" y="0"/>
            <a:chExt cx="19590236" cy="23843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66150"/>
              <a:ext cx="168529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8F7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Analyzing tone and complexity in Greene's works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9590236" cy="155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Why We U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ed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Thes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 Co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</a:t>
              </a:r>
              <a:r>
                <a:rPr lang="en-US" sz="8499" spc="-169" strike="noStrike" u="none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3989070"/>
            <a:chOff x="0" y="0"/>
            <a:chExt cx="11099800" cy="53187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11099800" cy="416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sed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Py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and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NLP tool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be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ause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is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diff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ult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judg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b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ition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alone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 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llowe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us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qu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tify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reen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e’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g: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le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ngth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ag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aph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ructure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Topic co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uity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ical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nnector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(disc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urse mark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)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ity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10998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T</a:t>
              </a: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o Measure Writing Style Objectively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5143500"/>
            <a:ext cx="8324850" cy="3989070"/>
            <a:chOff x="0" y="0"/>
            <a:chExt cx="11099800" cy="53187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11099800" cy="416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 w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 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whet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Greene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ng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 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be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twee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48 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 Powe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 and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Law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 Na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ture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sing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ensu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ed: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Sam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m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 for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both books</a:t>
              </a:r>
            </a:p>
            <a:p>
              <a:pPr algn="l" marL="518160" indent="-259080" lvl="1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acc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urat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compar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son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110998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To</a:t>
              </a: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 Compare the Two Books Fairly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3942117" cy="2864558"/>
            <a:chOff x="0" y="0"/>
            <a:chExt cx="18589490" cy="38194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301250"/>
              <a:ext cx="168529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8F7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Analyzing key term frequencies and distributions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589490" cy="155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>
                  <a:solidFill>
                    <a:srgbClr val="F8F7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4437091"/>
            <a:ext cx="8324850" cy="2103120"/>
            <a:chOff x="0" y="0"/>
            <a:chExt cx="11099800" cy="28041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65300"/>
              <a:ext cx="110998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Shorter and more variable sentences → sharper, more direct communication.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1099800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Th</a:t>
              </a: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 48 Laws of Power uses a fast, tactical writing style.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4437091"/>
            <a:ext cx="8324850" cy="2103120"/>
            <a:chOff x="0" y="0"/>
            <a:chExt cx="11099800" cy="28041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65300"/>
              <a:ext cx="110998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onge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r,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more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nsis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tent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nt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→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deep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 e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x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nation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 an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alys</a:t>
              </a:r>
              <a:r>
                <a:rPr lang="en-US" sz="2400" spc="-48" strike="noStrike" u="none">
                  <a:solidFill>
                    <a:srgbClr val="F8F7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11099800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8F7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The Laws of Human Nature has a smoother, more reflective style.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877091" y="7227679"/>
            <a:ext cx="16540376" cy="221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Disc</a:t>
            </a:r>
            <a:r>
              <a:rPr lang="en-US" sz="2869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ourse markers reveal contrasting rhetorical strategies.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Power uses fewer logical connectors (e.g., “however”, “because”) → creates an authoritative tone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.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Human Nature uses more reasoning markers → supports psychological arguments.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8025" y="3487235"/>
            <a:ext cx="8324850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8F7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72462" y="-2507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775836"/>
            <a:ext cx="346269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Yousef Askar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xcca12@gmail.com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+4917684656742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3955" y="6004436"/>
            <a:ext cx="613529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abdelmalek abdou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abdelmalekaabdosaleh”gmail.com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8F7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+4917659882132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NLP Analysis of Robert Greene's Works</dc:description>
  <dc:identifier>DAG7Ptf4Ulc</dc:identifier>
  <dcterms:modified xsi:type="dcterms:W3CDTF">2011-08-01T06:04:30Z</dcterms:modified>
  <cp:revision>1</cp:revision>
  <dc:title>Presentation - NLP Analysis of Robert Greene's Works</dc:title>
</cp:coreProperties>
</file>